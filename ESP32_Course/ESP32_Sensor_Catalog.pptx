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Relationship Id="rId4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37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jpg"/><Relationship Id="rId3" Type="http://schemas.openxmlformats.org/officeDocument/2006/relationships/image" Target="../media/image46.jpg"/><Relationship Id="rId4" Type="http://schemas.openxmlformats.org/officeDocument/2006/relationships/image" Target="../media/image4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DIY 전자 센서 카탈로그 (ESP32 호환)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ESP32 Sensor Catalog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본 문서는 DIY 전자 및 IoT 시스템에서 사용되는 센서를 정리한 자료입니다.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ESP32 Sensor Catalog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각 항목 구성:</a:t>
            </a:r>
          </a:p>
          <a:p>
            <a:r>
              <a:t>- 센싱 방식</a:t>
            </a:r>
          </a:p>
          <a:p>
            <a:r>
              <a:t>- 대표 모델</a:t>
            </a:r>
          </a:p>
          <a:p>
            <a:r>
              <a:t>- 출력 방식</a:t>
            </a:r>
          </a:p>
          <a:p>
            <a:r>
              <a:t>- 비고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온도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[저항형]</a:t>
            </a:r>
          </a:p>
          <a:p>
            <a:r>
              <a:t>센싱 방식: 저항 변화 (NTC/PTC)</a:t>
            </a:r>
          </a:p>
          <a:p>
            <a:r>
              <a:t>모델: NTC Thermistor (10k)</a:t>
            </a:r>
          </a:p>
          <a:p>
            <a:r>
              <a:t>출력: 아날로그(ADC)</a:t>
            </a:r>
          </a:p>
          <a:p>
            <a:r>
              <a:t>비고: 전압 분배 회로 필요</a:t>
            </a:r>
          </a:p>
        </p:txBody>
      </p:sp>
      <p:pic>
        <p:nvPicPr>
          <p:cNvPr id="4" name="Picture 3" descr="NTC_Thermistor_10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22504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온도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센싱 방식: RTD</a:t>
            </a:r>
          </a:p>
          <a:p>
            <a:r>
              <a:t>모델: PT100 + MAX31865</a:t>
            </a:r>
          </a:p>
          <a:p>
            <a:r>
              <a:t>출력: SPI</a:t>
            </a:r>
          </a:p>
          <a:p>
            <a:r>
              <a:t>비고: 고정밀</a:t>
            </a:r>
          </a:p>
        </p:txBody>
      </p:sp>
      <p:pic>
        <p:nvPicPr>
          <p:cNvPr id="4" name="Picture 3" descr="PT100_MAX318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온도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[반도체형]</a:t>
            </a:r>
          </a:p>
          <a:p>
            <a:r>
              <a:t>센싱 방식: 전압 비례</a:t>
            </a:r>
          </a:p>
          <a:p>
            <a:r>
              <a:t>모델: TMP36</a:t>
            </a:r>
          </a:p>
          <a:p>
            <a:r>
              <a:t>출력: 아날로그</a:t>
            </a:r>
          </a:p>
          <a:p>
            <a:r>
              <a:t>비고: 간단</a:t>
            </a:r>
          </a:p>
        </p:txBody>
      </p:sp>
      <p:pic>
        <p:nvPicPr>
          <p:cNvPr id="4" name="Picture 3" descr="TMP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온도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센싱 방식: 디지털 IC</a:t>
            </a:r>
          </a:p>
          <a:p>
            <a:r>
              <a:t>모델: DS18B20</a:t>
            </a:r>
          </a:p>
          <a:p>
            <a:r>
              <a:t>출력: 1-Wire</a:t>
            </a:r>
          </a:p>
          <a:p>
            <a:r>
              <a:t>비고: 방수 가능</a:t>
            </a:r>
          </a:p>
        </p:txBody>
      </p:sp>
      <p:pic>
        <p:nvPicPr>
          <p:cNvPr id="4" name="Picture 3" descr="DS18B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온도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센싱 방식: 통합형</a:t>
            </a:r>
          </a:p>
          <a:p>
            <a:r>
              <a:t>모델: SHT31</a:t>
            </a:r>
          </a:p>
          <a:p>
            <a:r>
              <a:t>출력: I2C</a:t>
            </a:r>
          </a:p>
          <a:p>
            <a:r>
              <a:t>비고: 고정밀</a:t>
            </a:r>
          </a:p>
        </p:txBody>
      </p:sp>
      <p:pic>
        <p:nvPicPr>
          <p:cNvPr id="4" name="Picture 3" descr="SHT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온도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[열전대]</a:t>
            </a:r>
          </a:p>
          <a:p>
            <a:r>
              <a:t>센싱 방식: 제벡 효과</a:t>
            </a:r>
          </a:p>
          <a:p>
            <a:r>
              <a:t>모델: MAX6675</a:t>
            </a:r>
          </a:p>
          <a:p>
            <a:r>
              <a:t>출력: SPI</a:t>
            </a:r>
          </a:p>
        </p:txBody>
      </p:sp>
      <p:pic>
        <p:nvPicPr>
          <p:cNvPr id="4" name="Picture 3" descr="MAX6675_thermocoup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81584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온도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[적외선]</a:t>
            </a:r>
          </a:p>
          <a:p>
            <a:r>
              <a:t>센싱 방식: IR 복사</a:t>
            </a:r>
          </a:p>
          <a:p>
            <a:r>
              <a:t>모델: MLX90614</a:t>
            </a:r>
          </a:p>
          <a:p>
            <a:r>
              <a:t>출력: I2C</a:t>
            </a:r>
          </a:p>
        </p:txBody>
      </p:sp>
      <p:pic>
        <p:nvPicPr>
          <p:cNvPr id="4" name="Picture 3" descr="MLX90614_infrared_temperature_se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습도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[정전용량형]</a:t>
            </a:r>
          </a:p>
          <a:p>
            <a:r>
              <a:t>모델: SHTC3</a:t>
            </a:r>
          </a:p>
          <a:p>
            <a:r>
              <a:t>출력: I2C</a:t>
            </a:r>
          </a:p>
        </p:txBody>
      </p:sp>
      <p:pic>
        <p:nvPicPr>
          <p:cNvPr id="4" name="Picture 3" descr="SHTC3_humidity_se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습도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모델: DHT22</a:t>
            </a:r>
          </a:p>
          <a:p>
            <a:r>
              <a:t>출력: 단일선</a:t>
            </a:r>
          </a:p>
        </p:txBody>
      </p:sp>
      <p:pic>
        <p:nvPicPr>
          <p:cNvPr id="4" name="Picture 3" descr="DHT22_humidity_se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39319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습도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[복합센서]</a:t>
            </a:r>
          </a:p>
          <a:p>
            <a:r>
              <a:t>모델: BME280</a:t>
            </a:r>
          </a:p>
          <a:p>
            <a:r>
              <a:t>출력: I2C/SPI</a:t>
            </a:r>
          </a:p>
        </p:txBody>
      </p:sp>
      <p:pic>
        <p:nvPicPr>
          <p:cNvPr id="4" name="Picture 3" descr="BME280_sensor_modu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3469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가스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[MOS]</a:t>
            </a:r>
          </a:p>
          <a:p>
            <a:r>
              <a:t>모델: MQ-135</a:t>
            </a:r>
          </a:p>
          <a:p>
            <a:r>
              <a:t>출력: 아날로그</a:t>
            </a:r>
          </a:p>
        </p:txBody>
      </p:sp>
      <p:pic>
        <p:nvPicPr>
          <p:cNvPr id="4" name="Picture 3" descr="MQ-135_gas_sensor_modu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가스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[CO2]</a:t>
            </a:r>
          </a:p>
          <a:p>
            <a:r>
              <a:t>모델: MH-Z19B</a:t>
            </a:r>
          </a:p>
          <a:p>
            <a:r>
              <a:t>출력: UART/PWM</a:t>
            </a:r>
          </a:p>
        </p:txBody>
      </p:sp>
      <p:pic>
        <p:nvPicPr>
          <p:cNvPr id="4" name="Picture 3" descr="MH-Z19B_CO2_se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728127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가스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[VOC]</a:t>
            </a:r>
          </a:p>
          <a:p>
            <a:r>
              <a:t>모델: SGP30</a:t>
            </a:r>
          </a:p>
          <a:p>
            <a:r>
              <a:t>출력: I2C</a:t>
            </a:r>
          </a:p>
        </p:txBody>
      </p:sp>
      <p:pic>
        <p:nvPicPr>
          <p:cNvPr id="4" name="Picture 3" descr="SGP30_VOC_se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3763617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가스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모델: BME680</a:t>
            </a:r>
          </a:p>
          <a:p>
            <a:r>
              <a:t>출력: I2C/SPI</a:t>
            </a:r>
          </a:p>
        </p:txBody>
      </p:sp>
      <p:pic>
        <p:nvPicPr>
          <p:cNvPr id="4" name="Picture 3" descr="BME680_gas_se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6212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가스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[미세먼지]</a:t>
            </a:r>
          </a:p>
          <a:p>
            <a:r>
              <a:t>모델: PMS5003</a:t>
            </a:r>
          </a:p>
          <a:p>
            <a:r>
              <a:t>출력: UART</a:t>
            </a:r>
          </a:p>
        </p:txBody>
      </p:sp>
      <p:pic>
        <p:nvPicPr>
          <p:cNvPr id="4" name="Picture 3" descr="PMS5003_dust_se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37185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광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[LDR]</a:t>
            </a:r>
          </a:p>
          <a:p>
            <a:r>
              <a:t>모델: GL5528</a:t>
            </a:r>
          </a:p>
          <a:p>
            <a:r>
              <a:t>출력: 아날로그</a:t>
            </a:r>
          </a:p>
        </p:txBody>
      </p:sp>
      <p:pic>
        <p:nvPicPr>
          <p:cNvPr id="4" name="Picture 3" descr="GL5528_LDR_se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광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[조도]</a:t>
            </a:r>
          </a:p>
          <a:p>
            <a:r>
              <a:t>모델: BH1750</a:t>
            </a:r>
          </a:p>
          <a:p>
            <a:r>
              <a:t>출력: I2C</a:t>
            </a:r>
          </a:p>
        </p:txBody>
      </p:sp>
      <p:pic>
        <p:nvPicPr>
          <p:cNvPr id="4" name="Picture 3" descr="BH1750_light_se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광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모델: TSL2561</a:t>
            </a:r>
          </a:p>
          <a:p>
            <a:r>
              <a:t>출력: I2C</a:t>
            </a:r>
          </a:p>
        </p:txBody>
      </p:sp>
      <p:pic>
        <p:nvPicPr>
          <p:cNvPr id="4" name="Picture 3" descr="TSL2561_light_se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광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[컬러]</a:t>
            </a:r>
          </a:p>
          <a:p>
            <a:r>
              <a:t>모델: TCS34725</a:t>
            </a:r>
          </a:p>
          <a:p>
            <a:r>
              <a:t>출력: I2C</a:t>
            </a:r>
          </a:p>
        </p:txBody>
      </p:sp>
      <p:pic>
        <p:nvPicPr>
          <p:cNvPr id="4" name="Picture 3" descr="TCS34725_color_se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광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모델: APDS9999</a:t>
            </a:r>
          </a:p>
          <a:p>
            <a:r>
              <a:t>출력: I2C</a:t>
            </a:r>
          </a:p>
        </p:txBody>
      </p:sp>
      <p:pic>
        <p:nvPicPr>
          <p:cNvPr id="4" name="Picture 3" descr="APDS9999_sensor_modu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광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[UV]</a:t>
            </a:r>
          </a:p>
          <a:p>
            <a:r>
              <a:t>모델: VEML6075</a:t>
            </a:r>
          </a:p>
          <a:p>
            <a:r>
              <a:t>출력: I2C</a:t>
            </a:r>
          </a:p>
        </p:txBody>
      </p:sp>
      <p:pic>
        <p:nvPicPr>
          <p:cNvPr id="4" name="Picture 3" descr="VEML6075_UV_se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3263705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광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[멀티스펙트럼]</a:t>
            </a:r>
          </a:p>
          <a:p>
            <a:r>
              <a:t>모델: AS7262</a:t>
            </a:r>
          </a:p>
          <a:p>
            <a:r>
              <a:t>출력: I2C</a:t>
            </a:r>
          </a:p>
        </p:txBody>
      </p:sp>
      <p:pic>
        <p:nvPicPr>
          <p:cNvPr id="4" name="Picture 3" descr="AS7262_spectral_se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590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토양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[수분]</a:t>
            </a:r>
          </a:p>
          <a:p>
            <a:r>
              <a:t>모델: Capacitive v2.0</a:t>
            </a:r>
          </a:p>
          <a:p>
            <a:r>
              <a:t>출력: 아날로그</a:t>
            </a:r>
          </a:p>
        </p:txBody>
      </p:sp>
      <p:pic>
        <p:nvPicPr>
          <p:cNvPr id="4" name="Picture 3" descr="Capacitive_soil_moisture_sensor_v2.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토양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[EC]</a:t>
            </a:r>
          </a:p>
          <a:p>
            <a:r>
              <a:t>모델: DFRobot EC</a:t>
            </a:r>
          </a:p>
          <a:p>
            <a:r>
              <a:t>출력: 아날로그</a:t>
            </a:r>
          </a:p>
        </p:txBody>
      </p:sp>
      <p:pic>
        <p:nvPicPr>
          <p:cNvPr id="4" name="Picture 3" descr="DFRobot_EC_se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484408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토양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[pH]</a:t>
            </a:r>
          </a:p>
          <a:p>
            <a:r>
              <a:t>모델: Gravity pH</a:t>
            </a:r>
          </a:p>
          <a:p>
            <a:r>
              <a:t>출력: 아날로그</a:t>
            </a:r>
          </a:p>
        </p:txBody>
      </p:sp>
      <p:pic>
        <p:nvPicPr>
          <p:cNvPr id="4" name="Picture 3" descr="Gravity_pH_se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390144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IMU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모델: MPU6050 (I2C)</a:t>
            </a:r>
          </a:p>
          <a:p>
            <a:r>
              <a:t>모델: MPU9250 (I2C/SPI)</a:t>
            </a:r>
          </a:p>
          <a:p>
            <a:r>
              <a:t>모델: ADXL345 (I2C/SPI)</a:t>
            </a:r>
          </a:p>
        </p:txBody>
      </p:sp>
      <p:pic>
        <p:nvPicPr>
          <p:cNvPr id="4" name="Picture 3" descr="MPU6050_modu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1778000" cy="1524000"/>
          </a:xfrm>
          <a:prstGeom prst="rect">
            <a:avLst/>
          </a:prstGeom>
        </p:spPr>
      </p:pic>
      <p:pic>
        <p:nvPicPr>
          <p:cNvPr id="5" name="Picture 4" descr="MPU9250_modu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078480"/>
            <a:ext cx="1405467" cy="1524000"/>
          </a:xfrm>
          <a:prstGeom prst="rect">
            <a:avLst/>
          </a:prstGeom>
        </p:spPr>
      </p:pic>
      <p:pic>
        <p:nvPicPr>
          <p:cNvPr id="6" name="Picture 5" descr="ADXL345_acceleromet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785360"/>
            <a:ext cx="14224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거리 센서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초음파: HC-SR04 (디지털)</a:t>
            </a:r>
          </a:p>
          <a:p>
            <a:r>
              <a:t>ToF: VL53L0X (I2C)</a:t>
            </a:r>
          </a:p>
          <a:p>
            <a:r>
              <a:t>IR: GP2Y0A21 (아날로그)</a:t>
            </a:r>
          </a:p>
        </p:txBody>
      </p:sp>
      <p:pic>
        <p:nvPicPr>
          <p:cNvPr id="4" name="Picture 3" descr="HC-SR04_ultrasonic_se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1524000" cy="1524000"/>
          </a:xfrm>
          <a:prstGeom prst="rect">
            <a:avLst/>
          </a:prstGeom>
        </p:spPr>
      </p:pic>
      <p:pic>
        <p:nvPicPr>
          <p:cNvPr id="5" name="Picture 4" descr="VL53L0X_ToF_sens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078480"/>
            <a:ext cx="1524000" cy="1524000"/>
          </a:xfrm>
          <a:prstGeom prst="rect">
            <a:avLst/>
          </a:prstGeom>
        </p:spPr>
      </p:pic>
      <p:pic>
        <p:nvPicPr>
          <p:cNvPr id="6" name="Picture 5" descr="GP2Y0A21_IR_distance_senso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785360"/>
            <a:ext cx="20828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압력/힘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BMP280 (I2C/SPI)</a:t>
            </a:r>
          </a:p>
          <a:p>
            <a:r>
              <a:t>HX711 (디지털)</a:t>
            </a:r>
          </a:p>
          <a:p>
            <a:r>
              <a:t>FSR402 (아날로그)</a:t>
            </a:r>
          </a:p>
        </p:txBody>
      </p:sp>
      <p:pic>
        <p:nvPicPr>
          <p:cNvPr id="4" name="Picture 3" descr="BMP280_pressure_se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1531736" cy="1524000"/>
          </a:xfrm>
          <a:prstGeom prst="rect">
            <a:avLst/>
          </a:prstGeom>
        </p:spPr>
      </p:pic>
      <p:pic>
        <p:nvPicPr>
          <p:cNvPr id="5" name="Picture 4" descr="HX711_load_cell_amplifi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078480"/>
            <a:ext cx="1524000" cy="1524000"/>
          </a:xfrm>
          <a:prstGeom prst="rect">
            <a:avLst/>
          </a:prstGeom>
        </p:spPr>
      </p:pic>
      <p:pic>
        <p:nvPicPr>
          <p:cNvPr id="6" name="Picture 5" descr="FSR402_force_senso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785360"/>
            <a:ext cx="1778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자기/전류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A3144 (디지털)</a:t>
            </a:r>
          </a:p>
          <a:p>
            <a:r>
              <a:t>ACS712 (아날로그)</a:t>
            </a:r>
          </a:p>
          <a:p>
            <a:r>
              <a:t>INA219 (I2C)</a:t>
            </a:r>
          </a:p>
        </p:txBody>
      </p:sp>
      <p:pic>
        <p:nvPicPr>
          <p:cNvPr id="4" name="Picture 3" descr="A3144_hall_se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1524000" cy="1524000"/>
          </a:xfrm>
          <a:prstGeom prst="rect">
            <a:avLst/>
          </a:prstGeom>
        </p:spPr>
      </p:pic>
      <p:pic>
        <p:nvPicPr>
          <p:cNvPr id="5" name="Picture 4" descr="ACS712_current_sens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078480"/>
            <a:ext cx="1524000" cy="1524000"/>
          </a:xfrm>
          <a:prstGeom prst="rect">
            <a:avLst/>
          </a:prstGeom>
        </p:spPr>
      </p:pic>
      <p:pic>
        <p:nvPicPr>
          <p:cNvPr id="6" name="Picture 5" descr="INA219_current_senso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785360"/>
            <a:ext cx="13716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배터리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MAX17048 (I2C)</a:t>
            </a:r>
          </a:p>
        </p:txBody>
      </p:sp>
      <p:pic>
        <p:nvPicPr>
          <p:cNvPr id="4" name="Picture 3" descr="MAX17048_fuel_gau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영상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OV2640 (병렬)</a:t>
            </a:r>
          </a:p>
          <a:p>
            <a:r>
              <a:t>FLIR Lepton (SPI)</a:t>
            </a:r>
          </a:p>
        </p:txBody>
      </p:sp>
      <p:pic>
        <p:nvPicPr>
          <p:cNvPr id="4" name="Picture 3" descr="OV2640_camera_modu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235200" cy="2286000"/>
          </a:xfrm>
          <a:prstGeom prst="rect">
            <a:avLst/>
          </a:prstGeom>
        </p:spPr>
      </p:pic>
      <p:pic>
        <p:nvPicPr>
          <p:cNvPr id="5" name="Picture 4" descr="FLIR_Lepton_thermal_camer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840480"/>
            <a:ext cx="33528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음향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아날로그 마이크</a:t>
            </a:r>
          </a:p>
          <a:p>
            <a:r>
              <a:t>INMP441 (I2S)</a:t>
            </a:r>
          </a:p>
        </p:txBody>
      </p:sp>
      <p:pic>
        <p:nvPicPr>
          <p:cNvPr id="4" name="Picture 3" descr="Analog_microphone_modu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286000" cy="2286000"/>
          </a:xfrm>
          <a:prstGeom prst="rect">
            <a:avLst/>
          </a:prstGeom>
        </p:spPr>
      </p:pic>
      <p:pic>
        <p:nvPicPr>
          <p:cNvPr id="5" name="Picture 4" descr="INMP441_MEMS_micropho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840480"/>
            <a:ext cx="227457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터치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TTP223 (디지털)</a:t>
            </a:r>
          </a:p>
          <a:p>
            <a:r>
              <a:t>ESP32 터치핀</a:t>
            </a:r>
          </a:p>
        </p:txBody>
      </p:sp>
      <p:pic>
        <p:nvPicPr>
          <p:cNvPr id="4" name="Picture 3" descr="TTP223_touch_se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286000" cy="2286000"/>
          </a:xfrm>
          <a:prstGeom prst="rect">
            <a:avLst/>
          </a:prstGeom>
        </p:spPr>
      </p:pic>
      <p:pic>
        <p:nvPicPr>
          <p:cNvPr id="5" name="Picture 4" descr="ESP32_capacitive_tou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840480"/>
            <a:ext cx="16383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유체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YF-S201 (펄스)</a:t>
            </a:r>
          </a:p>
          <a:p>
            <a:r>
              <a:t>Float switch (디지털)</a:t>
            </a:r>
          </a:p>
          <a:p>
            <a:r>
              <a:t>Turbidity (아날로그/디지털)</a:t>
            </a:r>
          </a:p>
        </p:txBody>
      </p:sp>
      <p:pic>
        <p:nvPicPr>
          <p:cNvPr id="4" name="Picture 3" descr="YF-S201_water_flow_se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1524000" cy="1524000"/>
          </a:xfrm>
          <a:prstGeom prst="rect">
            <a:avLst/>
          </a:prstGeom>
        </p:spPr>
      </p:pic>
      <p:pic>
        <p:nvPicPr>
          <p:cNvPr id="5" name="Picture 4" descr="Float_switch_water_level_sens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078480"/>
            <a:ext cx="2540000" cy="1524000"/>
          </a:xfrm>
          <a:prstGeom prst="rect">
            <a:avLst/>
          </a:prstGeom>
        </p:spPr>
      </p:pic>
      <p:pic>
        <p:nvPicPr>
          <p:cNvPr id="6" name="Picture 5" descr="Turbidity_sensor_modu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785360"/>
            <a:ext cx="1954696" cy="15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